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D7E39D-192F-6629-AAA9-9049CFC656A9}" v="880" dt="2025-10-28T15:21:00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FA6CB-6FF5-4C7A-9E01-045083671D13}" type="datetimeFigureOut"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8A5BE-824D-4239-B41B-8D742C10DDD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52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26" Type="http://schemas.openxmlformats.org/officeDocument/2006/relationships/image" Target="../media/image45.png"/><Relationship Id="rId3" Type="http://schemas.openxmlformats.org/officeDocument/2006/relationships/image" Target="../media/image22.png"/><Relationship Id="rId21" Type="http://schemas.openxmlformats.org/officeDocument/2006/relationships/image" Target="../media/image40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5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24" Type="http://schemas.openxmlformats.org/officeDocument/2006/relationships/image" Target="../media/image43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23" Type="http://schemas.openxmlformats.org/officeDocument/2006/relationships/image" Target="../media/image42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Relationship Id="rId22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1818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21920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1638300"/>
            <a:ext cx="5715000" cy="2209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7907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" y="1895475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1610" y="1790700"/>
            <a:ext cx="769590" cy="76959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600" y="4000500"/>
            <a:ext cx="5715000" cy="1028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4152900"/>
            <a:ext cx="476250" cy="4762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4257675"/>
            <a:ext cx="17145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8600" y="5181600"/>
            <a:ext cx="5715000" cy="1028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5334000"/>
            <a:ext cx="476250" cy="4762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0063" y="5438775"/>
            <a:ext cx="238125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0" y="1219200"/>
            <a:ext cx="22860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48400" y="1638300"/>
            <a:ext cx="5715000" cy="1028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1790700"/>
            <a:ext cx="476250" cy="4762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29388" y="1895475"/>
            <a:ext cx="219075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48400" y="2819400"/>
            <a:ext cx="5715000" cy="1028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2971800"/>
            <a:ext cx="476250" cy="4762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43675" y="3076575"/>
            <a:ext cx="19050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48400" y="4000500"/>
            <a:ext cx="5715000" cy="1028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4152900"/>
            <a:ext cx="476250" cy="4762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19863" y="4257675"/>
            <a:ext cx="238125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28600" y="6457950"/>
            <a:ext cx="11734800" cy="5715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Kumbh 2025: Successes and Gaps</a:t>
            </a:r>
            <a:endParaRPr lang="en-US" sz="2250" dirty="0"/>
          </a:p>
        </p:txBody>
      </p:sp>
      <p:sp>
        <p:nvSpPr>
          <p:cNvPr id="27" name="Text 1"/>
          <p:cNvSpPr/>
          <p:nvPr/>
        </p:nvSpPr>
        <p:spPr>
          <a:xfrm>
            <a:off x="304800" y="533400"/>
            <a:ext cx="13898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dirty="0">
                <a:solidFill>
                  <a:srgbClr val="FFFFFF"/>
                </a:solidFill>
                <a:latin typeface="ui-sans-serif"/>
                <a:ea typeface="ui-sans-serif"/>
                <a:cs typeface="ui-sans-serif" pitchFamily="34" charset="-120"/>
              </a:rPr>
              <a:t>Maha Kumbh 2025 demonstrated breakthrough AI visibility but faced challenges in achieving real-time autonomy and adaptive crowd response</a:t>
            </a:r>
            <a:endParaRPr lang="en-US" sz="1350" dirty="0">
              <a:latin typeface="ui-sans-serif"/>
              <a:ea typeface="ui-sans-serif"/>
            </a:endParaRPr>
          </a:p>
        </p:txBody>
      </p:sp>
      <p:sp>
        <p:nvSpPr>
          <p:cNvPr id="28" name="Text 2"/>
          <p:cNvSpPr/>
          <p:nvPr/>
        </p:nvSpPr>
        <p:spPr>
          <a:xfrm>
            <a:off x="533400" y="1181100"/>
            <a:ext cx="5715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Successes</a:t>
            </a:r>
            <a:endParaRPr lang="en-US" sz="1800" dirty="0"/>
          </a:p>
        </p:txBody>
      </p:sp>
      <p:sp>
        <p:nvSpPr>
          <p:cNvPr id="29" name="Text 3"/>
          <p:cNvSpPr/>
          <p:nvPr/>
        </p:nvSpPr>
        <p:spPr>
          <a:xfrm>
            <a:off x="1009650" y="1790700"/>
            <a:ext cx="4011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&amp; Data Analytics</a:t>
            </a:r>
            <a:endParaRPr lang="en-US" sz="1350" dirty="0"/>
          </a:p>
        </p:txBody>
      </p:sp>
      <p:sp>
        <p:nvSpPr>
          <p:cNvPr id="30" name="Text 4"/>
          <p:cNvSpPr/>
          <p:nvPr/>
        </p:nvSpPr>
        <p:spPr>
          <a:xfrm>
            <a:off x="1009650" y="2057400"/>
            <a:ext cx="401196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95% accurate head-counting and heatmap analytics from AI-enabled cameras and drones, supporting 24x7 situational awareness</a:t>
            </a:r>
            <a:endParaRPr lang="en-US" sz="1200" dirty="0"/>
          </a:p>
        </p:txBody>
      </p:sp>
      <p:sp>
        <p:nvSpPr>
          <p:cNvPr id="31" name="Text 5"/>
          <p:cNvSpPr/>
          <p:nvPr/>
        </p:nvSpPr>
        <p:spPr>
          <a:xfrm>
            <a:off x="1009650" y="4152900"/>
            <a:ext cx="47815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RFID &amp; IoT Integration</a:t>
            </a:r>
            <a:endParaRPr lang="en-US" sz="1350" dirty="0"/>
          </a:p>
        </p:txBody>
      </p:sp>
      <p:sp>
        <p:nvSpPr>
          <p:cNvPr id="32" name="Text 6"/>
          <p:cNvSpPr/>
          <p:nvPr/>
        </p:nvSpPr>
        <p:spPr>
          <a:xfrm>
            <a:off x="1009650" y="4419600"/>
            <a:ext cx="4781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Over 1.5 million RFID wristbands enabled real-time people tracking and missing-person resolution</a:t>
            </a:r>
            <a:endParaRPr lang="en-US" sz="1200" dirty="0"/>
          </a:p>
        </p:txBody>
      </p:sp>
      <p:sp>
        <p:nvSpPr>
          <p:cNvPr id="33" name="Text 7"/>
          <p:cNvSpPr/>
          <p:nvPr/>
        </p:nvSpPr>
        <p:spPr>
          <a:xfrm>
            <a:off x="1009650" y="5334000"/>
            <a:ext cx="57378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Bhashini &amp; Kumbh SahAI'yak Chatbot</a:t>
            </a:r>
            <a:endParaRPr lang="en-US" sz="1350" dirty="0"/>
          </a:p>
        </p:txBody>
      </p:sp>
      <p:sp>
        <p:nvSpPr>
          <p:cNvPr id="34" name="Text 8"/>
          <p:cNvSpPr/>
          <p:nvPr/>
        </p:nvSpPr>
        <p:spPr>
          <a:xfrm>
            <a:off x="1009650" y="5600700"/>
            <a:ext cx="4781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/>
                <a:ea typeface="ui-sans-serif"/>
                <a:cs typeface="ui-sans-serif" pitchFamily="34" charset="-120"/>
              </a:rPr>
              <a:t>Delivered multilingual guidance and information delivery to pilgrims</a:t>
            </a:r>
            <a:endParaRPr lang="en-US" sz="1200" dirty="0">
              <a:latin typeface="ui-sans-serif"/>
              <a:ea typeface="ui-sans-serif"/>
            </a:endParaRPr>
          </a:p>
        </p:txBody>
      </p:sp>
      <p:sp>
        <p:nvSpPr>
          <p:cNvPr id="35" name="Text 9"/>
          <p:cNvSpPr/>
          <p:nvPr/>
        </p:nvSpPr>
        <p:spPr>
          <a:xfrm>
            <a:off x="6553200" y="1181100"/>
            <a:ext cx="5715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B4530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Gaps &amp; Challenges</a:t>
            </a:r>
            <a:endParaRPr lang="en-US" sz="1800" dirty="0"/>
          </a:p>
        </p:txBody>
      </p:sp>
      <p:sp>
        <p:nvSpPr>
          <p:cNvPr id="36" name="Text 10"/>
          <p:cNvSpPr/>
          <p:nvPr/>
        </p:nvSpPr>
        <p:spPr>
          <a:xfrm>
            <a:off x="7029450" y="1790700"/>
            <a:ext cx="57378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Centralized Command Dependency</a:t>
            </a:r>
            <a:endParaRPr lang="en-US" sz="1350" dirty="0"/>
          </a:p>
        </p:txBody>
      </p:sp>
      <p:sp>
        <p:nvSpPr>
          <p:cNvPr id="37" name="Text 11"/>
          <p:cNvSpPr/>
          <p:nvPr/>
        </p:nvSpPr>
        <p:spPr>
          <a:xfrm>
            <a:off x="7029450" y="2057400"/>
            <a:ext cx="4781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374151"/>
                </a:solidFill>
                <a:latin typeface="ui-sans-serif"/>
                <a:ea typeface="ui-sans-serif"/>
                <a:cs typeface="ui-sans-serif" pitchFamily="34" charset="-120"/>
              </a:rPr>
              <a:t>Edge decisions lagged during peak crowd phases; AI data was visible but not converted into timely actions</a:t>
            </a:r>
            <a:endParaRPr lang="en-US" sz="1200" dirty="0">
              <a:solidFill>
                <a:srgbClr val="374151"/>
              </a:solidFill>
              <a:latin typeface="ui-sans-serif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7029450" y="2971800"/>
            <a:ext cx="57378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Fragmented Alert Dissemination</a:t>
            </a:r>
            <a:endParaRPr lang="en-US" sz="1350" dirty="0"/>
          </a:p>
        </p:txBody>
      </p:sp>
      <p:sp>
        <p:nvSpPr>
          <p:cNvPr id="39" name="Text 13"/>
          <p:cNvSpPr/>
          <p:nvPr/>
        </p:nvSpPr>
        <p:spPr>
          <a:xfrm>
            <a:off x="7029450" y="3238500"/>
            <a:ext cx="4781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Audio/text announcements were missed due to language and connectivity issues</a:t>
            </a:r>
            <a:endParaRPr lang="en-US" sz="1200" dirty="0"/>
          </a:p>
        </p:txBody>
      </p:sp>
      <p:sp>
        <p:nvSpPr>
          <p:cNvPr id="40" name="Text 14"/>
          <p:cNvSpPr/>
          <p:nvPr/>
        </p:nvSpPr>
        <p:spPr>
          <a:xfrm>
            <a:off x="7029450" y="4152900"/>
            <a:ext cx="57378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Behavioral and Environmental Blind Spots</a:t>
            </a:r>
            <a:endParaRPr lang="en-US" sz="1350" dirty="0"/>
          </a:p>
        </p:txBody>
      </p:sp>
      <p:sp>
        <p:nvSpPr>
          <p:cNvPr id="41" name="Text 15"/>
          <p:cNvSpPr/>
          <p:nvPr/>
        </p:nvSpPr>
        <p:spPr>
          <a:xfrm>
            <a:off x="7029450" y="4419600"/>
            <a:ext cx="4781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Lacked analytics to anticipate panic or emotion-based movement patterns</a:t>
            </a:r>
            <a:endParaRPr lang="en-US" sz="1200" dirty="0"/>
          </a:p>
        </p:txBody>
      </p:sp>
      <p:sp>
        <p:nvSpPr>
          <p:cNvPr id="42" name="Text 16"/>
          <p:cNvSpPr/>
          <p:nvPr/>
        </p:nvSpPr>
        <p:spPr>
          <a:xfrm>
            <a:off x="-762000" y="661035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B4530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Takeaway:</a:t>
            </a: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Technology detects well but doesn't interpret context or adapt on its own.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961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96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2362200"/>
            <a:ext cx="2514600" cy="285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400" y="2362200"/>
            <a:ext cx="2514600" cy="285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7600" y="2362200"/>
            <a:ext cx="2514600" cy="285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0800" y="2362200"/>
            <a:ext cx="1981200" cy="285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9200" y="1790700"/>
            <a:ext cx="609600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09700" y="194310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05200" y="1790700"/>
            <a:ext cx="609600" cy="609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95700" y="194310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91200" y="1790700"/>
            <a:ext cx="60960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81700" y="19431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77200" y="1790700"/>
            <a:ext cx="609600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39125" y="1943100"/>
            <a:ext cx="28575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63200" y="1790700"/>
            <a:ext cx="609600" cy="609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000" y="4724400"/>
            <a:ext cx="11430000" cy="1524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" y="5486400"/>
            <a:ext cx="2667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" y="5591175"/>
            <a:ext cx="1143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67200" y="5486400"/>
            <a:ext cx="3429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43400" y="5591175"/>
            <a:ext cx="1905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24800" y="5486400"/>
            <a:ext cx="304800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01000" y="5591175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0" y="6400800"/>
            <a:ext cx="12192000" cy="4953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609600" y="381000"/>
            <a:ext cx="109728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F766E"/>
                </a:solidFill>
                <a:latin typeface="ui-sans-serif"/>
                <a:ea typeface="ui-sans-serif"/>
                <a:cs typeface="ui-sans-serif" pitchFamily="34" charset="-120"/>
              </a:rPr>
              <a:t>Ubiquitous Computing</a:t>
            </a:r>
            <a:r>
              <a:rPr lang="en-US" sz="2700" b="1" dirty="0">
                <a:solidFill>
                  <a:srgbClr val="1F2937"/>
                </a:solidFill>
                <a:latin typeface="ui-sans-serif"/>
                <a:ea typeface="ui-sans-serif"/>
                <a:cs typeface="ui-sans-serif" pitchFamily="34" charset="-120"/>
              </a:rPr>
              <a:t> for a Stampede-Free Kumbh 2028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609600" y="1219200"/>
            <a:ext cx="13167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/>
                <a:ea typeface="ui-sans-serif"/>
                <a:cs typeface="ui-sans-serif" pitchFamily="34" charset="-120"/>
              </a:rPr>
              <a:t>A self-learning Ubicomp ecosystem can turn World's</a:t>
            </a: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/>
                <a:cs typeface="ui-sans-serif" pitchFamily="34" charset="-120"/>
              </a:rPr>
              <a:t> largest gathering into a self-regulating, human-aware event</a:t>
            </a:r>
            <a:endParaRPr lang="en-US" sz="1500" dirty="0">
              <a:ea typeface="ui-sans-serif"/>
            </a:endParaRPr>
          </a:p>
        </p:txBody>
      </p:sp>
      <p:sp>
        <p:nvSpPr>
          <p:cNvPr id="28" name="Text 2"/>
          <p:cNvSpPr/>
          <p:nvPr/>
        </p:nvSpPr>
        <p:spPr>
          <a:xfrm>
            <a:off x="457200" y="2552700"/>
            <a:ext cx="2133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sz="1350" b="1" dirty="0">
                <a:solidFill>
                  <a:srgbClr val="1F2937"/>
                </a:solidFill>
                <a:latin typeface="ui-sans-serif"/>
                <a:ea typeface="ui-sans-serif"/>
                <a:cs typeface="ui-sans-serif" pitchFamily="34" charset="-120"/>
              </a:rPr>
              <a:t>Edge‑AI Crowd Flow</a:t>
            </a:r>
            <a:endParaRPr lang="en-US" sz="1350" dirty="0">
              <a:ea typeface="+mn-lt"/>
              <a:cs typeface="+mn-lt"/>
            </a:endParaRPr>
          </a:p>
        </p:txBody>
      </p:sp>
      <p:sp>
        <p:nvSpPr>
          <p:cNvPr id="29" name="Text 3"/>
          <p:cNvSpPr/>
          <p:nvPr/>
        </p:nvSpPr>
        <p:spPr>
          <a:xfrm>
            <a:off x="457200" y="3162300"/>
            <a:ext cx="21336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500"/>
              </a:lnSpc>
            </a:pPr>
            <a:r>
              <a:rPr lang="en-US" sz="1050" dirty="0">
                <a:solidFill>
                  <a:srgbClr val="4B5563"/>
                </a:solidFill>
                <a:latin typeface="ui-sans-serif"/>
                <a:ea typeface="ui-sans-serif"/>
                <a:cs typeface="ui-sans-serif" pitchFamily="34" charset="-120"/>
              </a:rPr>
              <a:t>Deploy edge AI nodes across Ghats to autonomously reroute pilgrims and prevent 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/>
                <a:cs typeface="ui-sans-serif" pitchFamily="34" charset="-120"/>
              </a:rPr>
              <a:t>choke-zones without central commands</a:t>
            </a:r>
            <a:endParaRPr lang="en-US" sz="1050" dirty="0">
              <a:ea typeface="ui-sans-serif"/>
            </a:endParaRPr>
          </a:p>
        </p:txBody>
      </p:sp>
      <p:sp>
        <p:nvSpPr>
          <p:cNvPr id="30" name="Text 4"/>
          <p:cNvSpPr/>
          <p:nvPr/>
        </p:nvSpPr>
        <p:spPr>
          <a:xfrm>
            <a:off x="2743200" y="2552700"/>
            <a:ext cx="2133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Predictive Communication</a:t>
            </a:r>
            <a:endParaRPr lang="en-US" sz="1350" dirty="0"/>
          </a:p>
        </p:txBody>
      </p:sp>
      <p:sp>
        <p:nvSpPr>
          <p:cNvPr id="31" name="Text 5"/>
          <p:cNvSpPr/>
          <p:nvPr/>
        </p:nvSpPr>
        <p:spPr>
          <a:xfrm>
            <a:off x="2743200" y="3162300"/>
            <a:ext cx="2133600" cy="952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500"/>
              </a:lnSpc>
            </a:pPr>
            <a:r>
              <a:rPr lang="en-US" sz="1050" dirty="0">
                <a:solidFill>
                  <a:srgbClr val="4B5563"/>
                </a:solidFill>
                <a:latin typeface="ui-sans-serif"/>
                <a:ea typeface="ui-sans-serif"/>
                <a:cs typeface="ui-sans-serif" pitchFamily="34" charset="-120"/>
              </a:rPr>
              <a:t>Sensor-triggered, multilingual alerts delivered instantly via phones, wearables, and smart signage</a:t>
            </a:r>
            <a:endParaRPr lang="en-US" sz="1050" dirty="0">
              <a:solidFill>
                <a:srgbClr val="4B5563"/>
              </a:solidFill>
              <a:latin typeface="ui-sans-serif"/>
            </a:endParaRPr>
          </a:p>
        </p:txBody>
      </p:sp>
      <p:sp>
        <p:nvSpPr>
          <p:cNvPr id="32" name="Text 6"/>
          <p:cNvSpPr/>
          <p:nvPr/>
        </p:nvSpPr>
        <p:spPr>
          <a:xfrm>
            <a:off x="5029200" y="2552700"/>
            <a:ext cx="2133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sz="1350" b="1" dirty="0">
                <a:solidFill>
                  <a:srgbClr val="1F2937"/>
                </a:solidFill>
                <a:latin typeface="ui-sans-serif"/>
              </a:rPr>
              <a:t>Emotion-Aware Behavioral Analytics</a:t>
            </a:r>
          </a:p>
        </p:txBody>
      </p:sp>
      <p:sp>
        <p:nvSpPr>
          <p:cNvPr id="33" name="Text 7"/>
          <p:cNvSpPr/>
          <p:nvPr/>
        </p:nvSpPr>
        <p:spPr>
          <a:xfrm>
            <a:off x="5029200" y="3162300"/>
            <a:ext cx="21336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500"/>
              </a:lnSpc>
            </a:pPr>
            <a:r>
              <a:rPr lang="en-US" sz="1050" dirty="0">
                <a:solidFill>
                  <a:srgbClr val="4B5563"/>
                </a:solidFill>
                <a:latin typeface="ui-sans-serif"/>
              </a:rPr>
              <a:t>AI analyses movement and expressions to detect unrest or panic, activating rapid de-escalation  protocols when needed</a:t>
            </a:r>
          </a:p>
        </p:txBody>
      </p:sp>
      <p:sp>
        <p:nvSpPr>
          <p:cNvPr id="34" name="Text 8"/>
          <p:cNvSpPr/>
          <p:nvPr/>
        </p:nvSpPr>
        <p:spPr>
          <a:xfrm>
            <a:off x="7101840" y="2552700"/>
            <a:ext cx="2560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/>
                <a:ea typeface="ui-sans-serif" pitchFamily="34" charset="-122"/>
                <a:cs typeface="ui-sans-serif" pitchFamily="34" charset="-120"/>
              </a:rPr>
              <a:t>Smart Mobility</a:t>
            </a:r>
            <a:endParaRPr lang="en-US" sz="1350" dirty="0">
              <a:latin typeface="ui-sans-serif"/>
            </a:endParaRPr>
          </a:p>
        </p:txBody>
      </p:sp>
      <p:sp>
        <p:nvSpPr>
          <p:cNvPr id="35" name="Text 9"/>
          <p:cNvSpPr/>
          <p:nvPr/>
        </p:nvSpPr>
        <p:spPr>
          <a:xfrm>
            <a:off x="7315200" y="3168770"/>
            <a:ext cx="21336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500"/>
              </a:lnSpc>
            </a:pPr>
            <a:r>
              <a:rPr lang="en-US" sz="1050" dirty="0">
                <a:solidFill>
                  <a:srgbClr val="4B5563"/>
                </a:solidFill>
                <a:latin typeface="ui-sans-serif"/>
              </a:rPr>
              <a:t>IoT- controlled transit loops, geo-fenced  vehicles, and sensor-optimized </a:t>
            </a:r>
          </a:p>
          <a:p>
            <a:pPr algn="ctr">
              <a:lnSpc>
                <a:spcPts val="1500"/>
              </a:lnSpc>
            </a:pPr>
            <a:r>
              <a:rPr lang="en-US" sz="1050" dirty="0">
                <a:solidFill>
                  <a:srgbClr val="4B5563"/>
                </a:solidFill>
                <a:latin typeface="ui-sans-serif"/>
              </a:rPr>
              <a:t>pathways that coordinate pedestrians</a:t>
            </a:r>
          </a:p>
        </p:txBody>
      </p:sp>
      <p:sp>
        <p:nvSpPr>
          <p:cNvPr id="36" name="Text 10"/>
          <p:cNvSpPr/>
          <p:nvPr/>
        </p:nvSpPr>
        <p:spPr>
          <a:xfrm>
            <a:off x="9601200" y="2552700"/>
            <a:ext cx="2133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sz="1350" b="1" dirty="0">
                <a:solidFill>
                  <a:srgbClr val="1F2937"/>
                </a:solidFill>
                <a:latin typeface="ui-sans-serif"/>
              </a:rPr>
              <a:t>Ambient Intelligence</a:t>
            </a:r>
          </a:p>
        </p:txBody>
      </p:sp>
      <p:sp>
        <p:nvSpPr>
          <p:cNvPr id="37" name="Text 11"/>
          <p:cNvSpPr/>
          <p:nvPr/>
        </p:nvSpPr>
        <p:spPr>
          <a:xfrm>
            <a:off x="9601200" y="3162300"/>
            <a:ext cx="21336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500"/>
              </a:lnSpc>
            </a:pPr>
            <a:r>
              <a:rPr lang="en-US" sz="1050" dirty="0">
                <a:solidFill>
                  <a:srgbClr val="4B5563"/>
                </a:solidFill>
                <a:latin typeface="ui-sans-serif"/>
              </a:rPr>
              <a:t>Smart lighting, color cues, and soundscapes intuitively guide and calm pilgrims, complementing traditional verbal instructions</a:t>
            </a:r>
          </a:p>
        </p:txBody>
      </p:sp>
      <p:sp>
        <p:nvSpPr>
          <p:cNvPr id="38" name="Text 12"/>
          <p:cNvSpPr/>
          <p:nvPr/>
        </p:nvSpPr>
        <p:spPr>
          <a:xfrm>
            <a:off x="609600" y="4953000"/>
            <a:ext cx="10972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Expected Impact</a:t>
            </a:r>
            <a:endParaRPr lang="en-US" sz="1500" dirty="0"/>
          </a:p>
        </p:txBody>
      </p:sp>
      <p:sp>
        <p:nvSpPr>
          <p:cNvPr id="39" name="Text 13"/>
          <p:cNvSpPr/>
          <p:nvPr/>
        </p:nvSpPr>
        <p:spPr>
          <a:xfrm>
            <a:off x="990600" y="5448300"/>
            <a:ext cx="3276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Shift from monitoring to anticipation – real-time decision loops at ground level</a:t>
            </a:r>
            <a:endParaRPr lang="en-US" sz="1200" dirty="0"/>
          </a:p>
        </p:txBody>
      </p:sp>
      <p:sp>
        <p:nvSpPr>
          <p:cNvPr id="40" name="Text 14"/>
          <p:cNvSpPr/>
          <p:nvPr/>
        </p:nvSpPr>
        <p:spPr>
          <a:xfrm>
            <a:off x="4724400" y="5448300"/>
            <a:ext cx="3200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374151"/>
                </a:solidFill>
                <a:latin typeface="ui-sans-serif"/>
                <a:ea typeface="ui-sans-serif"/>
                <a:cs typeface="ui-sans-serif" pitchFamily="34" charset="-120"/>
              </a:rPr>
              <a:t>Inclusive, sensor-triggered multilingual safety guidance on every device and public touchpoint</a:t>
            </a:r>
            <a:endParaRPr lang="en-US" sz="1200" dirty="0">
              <a:solidFill>
                <a:srgbClr val="374151"/>
              </a:solidFill>
              <a:latin typeface="ui-sans-serif"/>
              <a:ea typeface="ui-sans-serif"/>
              <a:cs typeface="Calibri" panose="020F0502020204030204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8343900" y="5334000"/>
            <a:ext cx="32385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374151"/>
                </a:solidFill>
                <a:latin typeface="ui-sans-serif"/>
                <a:ea typeface="ui-sans-serif"/>
                <a:cs typeface="ui-sans-serif" pitchFamily="34" charset="-120"/>
              </a:rPr>
              <a:t>Emotionally and physically safe pilgrim flows, verified instantly by behavior AI and responsive environment</a:t>
            </a:r>
            <a:endParaRPr lang="en-US" sz="1200" dirty="0">
              <a:latin typeface="ui-sans-serif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2589461" y="6515100"/>
            <a:ext cx="841551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kern="0" spc="54" dirty="0">
                <a:solidFill>
                  <a:srgbClr val="FFFFFF"/>
                </a:solidFill>
                <a:latin typeface="ui-sans-serif"/>
                <a:ea typeface="ui-sans-serif"/>
                <a:cs typeface="ui-sans-serif" pitchFamily="34" charset="-120"/>
              </a:rPr>
              <a:t>Anticipate | Adapt | Assure – The </a:t>
            </a:r>
            <a:r>
              <a:rPr lang="en-US" sz="1350" kern="0" spc="54" dirty="0" err="1">
                <a:solidFill>
                  <a:srgbClr val="FFFFFF"/>
                </a:solidFill>
                <a:latin typeface="ui-sans-serif"/>
                <a:ea typeface="ui-sans-serif"/>
                <a:cs typeface="ui-sans-serif" pitchFamily="34" charset="-120"/>
              </a:rPr>
              <a:t>UbiComp</a:t>
            </a:r>
            <a:r>
              <a:rPr lang="en-US" sz="1350" kern="0" spc="54" dirty="0">
                <a:solidFill>
                  <a:srgbClr val="FFFFFF"/>
                </a:solidFill>
                <a:latin typeface="ui-sans-serif"/>
                <a:ea typeface="ui-sans-serif"/>
                <a:cs typeface="ui-sans-serif" pitchFamily="34" charset="-120"/>
              </a:rPr>
              <a:t> Vision for Stampede-Proof Kumbh</a:t>
            </a:r>
            <a:endParaRPr lang="en-US" sz="1350" dirty="0">
              <a:latin typeface="ui-sans-serif"/>
            </a:endParaRPr>
          </a:p>
        </p:txBody>
      </p:sp>
      <p:pic>
        <p:nvPicPr>
          <p:cNvPr id="43" name="Picture 42" descr="preencoded.png">
            <a:extLst>
              <a:ext uri="{FF2B5EF4-FFF2-40B4-BE49-F238E27FC236}">
                <a16:creationId xmlns:a16="http://schemas.microsoft.com/office/drawing/2014/main" id="{3FAECC8A-741A-EBB2-BEAF-D504E5AE168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563225" y="1939416"/>
            <a:ext cx="209550" cy="2762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143</cp:revision>
  <dcterms:created xsi:type="dcterms:W3CDTF">2025-10-26T11:25:36Z</dcterms:created>
  <dcterms:modified xsi:type="dcterms:W3CDTF">2025-10-28T16:22:58Z</dcterms:modified>
</cp:coreProperties>
</file>